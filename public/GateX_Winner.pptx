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Slides 1-2: who you are. 0:00-0:30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Slides 1-2: who you are. 0:00-0:30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Slides 3-4: make them feel the threat. 0:30-1:30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Slides 3-4: make them feel the threat. 0:30-1:30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Slides 5-6: how you close it. 1:30-2:30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Slides 5-6: how you close it. 1:30-2:30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7: map only, don't lecture. 2:30-2:45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+ live demo — this is the win. 2:45-5:30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Slides 9-10: stack + close. 5:30-6:00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Slides 9-10: stack + close. 5:30-6:00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thank the judges, point to the QR / link for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45436" y="-2651760"/>
            <a:ext cx="7498080" cy="6400800"/>
          </a:xfrm>
          <a:prstGeom prst="ellipse">
            <a:avLst/>
          </a:prstGeom>
          <a:solidFill>
            <a:srgbClr val="6B4A2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395167" y="-2651760"/>
            <a:ext cx="5398618" cy="4754880"/>
          </a:xfrm>
          <a:prstGeom prst="ellipse">
            <a:avLst/>
          </a:prstGeom>
          <a:solidFill>
            <a:srgbClr val="C97A33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369918" y="-2651760"/>
            <a:ext cx="3449117" cy="3108960"/>
          </a:xfrm>
          <a:prstGeom prst="ellipse">
            <a:avLst/>
          </a:prstGeom>
          <a:solidFill>
            <a:srgbClr val="E8A057">
              <a:alpha val="2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148840"/>
            <a:ext cx="111831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E7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GateX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548640" y="3977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E7A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that buy, without being hijacked.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7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891272" y="384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6E7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SPEND GOVERNANCE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804672"/>
            <a:ext cx="10908792" cy="0"/>
          </a:xfrm>
          <a:prstGeom prst="line">
            <a:avLst/>
          </a:prstGeom>
          <a:noFill/>
          <a:ln w="9525">
            <a:solidFill>
              <a:srgbClr val="1C26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E7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governance.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E7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in.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566928" y="416052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7A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rule machine for agent purchases — policy, identity, isolation, one-time cards, sealed audit.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7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891272" y="384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6E7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01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804672"/>
            <a:ext cx="10908792" cy="0"/>
          </a:xfrm>
          <a:prstGeom prst="line">
            <a:avLst/>
          </a:prstGeom>
          <a:noFill/>
          <a:ln w="9525">
            <a:solidFill>
              <a:srgbClr val="1C26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C445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  </a:t>
            </a:r>
            <a:pPr indent="0" marL="0">
              <a:buNone/>
            </a:pPr>
            <a:r>
              <a:rPr lang="en-US" sz="5800" b="1" dirty="0">
                <a:solidFill>
                  <a:srgbClr val="E7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injection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594360" y="2697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C445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HANDLED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3776472"/>
            <a:ext cx="128016" cy="128016"/>
          </a:xfrm>
          <a:prstGeom prst="rect">
            <a:avLst/>
          </a:prstGeom>
          <a:solidFill>
            <a:srgbClr val="C4452D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36576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7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HTML embeds instructions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94360" y="4434840"/>
            <a:ext cx="128016" cy="128016"/>
          </a:xfrm>
          <a:prstGeom prst="rect">
            <a:avLst/>
          </a:prstGeom>
          <a:solidFill>
            <a:srgbClr val="C4452D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1596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7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treats them as tools → gift cards / redirect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94360" y="5093208"/>
            <a:ext cx="128016" cy="128016"/>
          </a:xfrm>
          <a:prstGeom prst="rect">
            <a:avLst/>
          </a:prstGeom>
          <a:solidFill>
            <a:srgbClr val="C4452D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97433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7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 cards cap damage; they don’t stop the instruction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7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891272" y="384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6E7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02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804672"/>
            <a:ext cx="10908792" cy="0"/>
          </a:xfrm>
          <a:prstGeom prst="line">
            <a:avLst/>
          </a:prstGeom>
          <a:noFill/>
          <a:ln w="9525">
            <a:solidFill>
              <a:srgbClr val="1C26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  </a:t>
            </a:r>
            <a:pPr indent="0" marL="0">
              <a:buNone/>
            </a:pPr>
            <a:r>
              <a:rPr lang="en-US" sz="5800" b="1" dirty="0">
                <a:solidFill>
                  <a:srgbClr val="E7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impersonation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594360" y="2697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D4A0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PARTIALLY HANDLED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3776472"/>
            <a:ext cx="128016" cy="12801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36576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7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bot poses as your buyer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94360" y="4434840"/>
            <a:ext cx="128016" cy="12801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1596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7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Merchants can’t tell agents apart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94360" y="5093208"/>
            <a:ext cx="128016" cy="12801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97433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7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identity ≠ agent auth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7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891272" y="384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6E7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SOLUTION 01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804672"/>
            <a:ext cx="10908792" cy="0"/>
          </a:xfrm>
          <a:prstGeom prst="line">
            <a:avLst/>
          </a:prstGeom>
          <a:noFill/>
          <a:ln w="9525">
            <a:solidFill>
              <a:srgbClr val="1C26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6E7A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leaves these open </a:t>
            </a:r>
            <a:pPr indent="0" marL="0">
              <a:buNone/>
            </a:pPr>
            <a:r>
              <a:rPr lang="en-US" sz="2500" b="1" dirty="0">
                <a:solidFill>
                  <a:srgbClr val="14D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indent="0" marL="0">
              <a:buNone/>
            </a:pPr>
            <a:r>
              <a:rPr lang="en-US" sz="2500" b="1" dirty="0">
                <a:solidFill>
                  <a:srgbClr val="E7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GateX closes the spend path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3246120" cy="2148840"/>
          </a:xfrm>
          <a:prstGeom prst="rect">
            <a:avLst/>
          </a:prstGeom>
          <a:ln w="12700">
            <a:solidFill>
              <a:srgbClr val="1C26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74520"/>
            <a:ext cx="3246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445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913632" y="1874520"/>
            <a:ext cx="777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D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809744" y="1874520"/>
            <a:ext cx="6830568" cy="2148840"/>
          </a:xfrm>
          <a:prstGeom prst="rect">
            <a:avLst/>
          </a:prstGeom>
          <a:ln w="19050">
            <a:solidFill>
              <a:srgbClr val="14D4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75504" y="2075688"/>
            <a:ext cx="6099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7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CaMeL isolation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175504" y="2651760"/>
            <a:ext cx="2889504" cy="777240"/>
          </a:xfrm>
          <a:prstGeom prst="rect">
            <a:avLst/>
          </a:prstGeom>
          <a:solidFill>
            <a:srgbClr val="10171B"/>
          </a:solidFill>
          <a:ln w="12700">
            <a:solidFill>
              <a:srgbClr val="1C26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75504" y="2743200"/>
            <a:ext cx="2889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E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Q-LLM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E7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quarantined · no tools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385048" y="2651760"/>
            <a:ext cx="2889504" cy="777240"/>
          </a:xfrm>
          <a:prstGeom prst="rect">
            <a:avLst/>
          </a:prstGeom>
          <a:solidFill>
            <a:srgbClr val="10171B"/>
          </a:solidFill>
          <a:ln w="12700">
            <a:solidFill>
              <a:srgbClr val="1C26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85048" y="2743200"/>
            <a:ext cx="2889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E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P-LLM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E7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privileged · never sees HTML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75504" y="3611880"/>
            <a:ext cx="6099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D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 DeepMind</a:t>
            </a:r>
            <a:pPr indent="0" marL="0">
              <a:buNone/>
            </a:pPr>
            <a:r>
              <a:rPr lang="en-US" sz="1100" dirty="0">
                <a:solidFill>
                  <a:srgbClr val="6E7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CaMeL research paper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315968"/>
            <a:ext cx="3246120" cy="1234440"/>
          </a:xfrm>
          <a:prstGeom prst="rect">
            <a:avLst/>
          </a:prstGeom>
          <a:ln w="12700">
            <a:solidFill>
              <a:srgbClr val="1C26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315968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Impersonation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913632" y="4315968"/>
            <a:ext cx="777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D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4809744" y="4315968"/>
            <a:ext cx="6830568" cy="1234440"/>
          </a:xfrm>
          <a:prstGeom prst="rect">
            <a:avLst/>
          </a:prstGeom>
          <a:ln w="19050">
            <a:solidFill>
              <a:srgbClr val="14D4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9744" y="4315968"/>
            <a:ext cx="68305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7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registry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7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891272" y="384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6E7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SOLUTION 02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804672"/>
            <a:ext cx="10908792" cy="0"/>
          </a:xfrm>
          <a:prstGeom prst="line">
            <a:avLst/>
          </a:prstGeom>
          <a:noFill/>
          <a:ln w="9525">
            <a:solidFill>
              <a:srgbClr val="1C26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44980" y="2103120"/>
            <a:ext cx="1243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D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988564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7A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537204" y="2103120"/>
            <a:ext cx="2188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7E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check_spend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725668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7A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274308" y="2103120"/>
            <a:ext cx="2188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7E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request_pay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462772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7A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011412" y="2103120"/>
            <a:ext cx="1432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D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Receipt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2011680" y="3337560"/>
            <a:ext cx="8165592" cy="0"/>
          </a:xfrm>
          <a:prstGeom prst="line">
            <a:avLst/>
          </a:prstGeom>
          <a:noFill/>
          <a:ln w="9525">
            <a:solidFill>
              <a:srgbClr val="1C26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03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7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StraitsX one-time XSGD  ·  x402 on Avalanche  ·  revoke before seal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4206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E7A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 as a skill — buys cannot skip the gateway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7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891272" y="384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6E7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RUNS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804672"/>
            <a:ext cx="10908792" cy="0"/>
          </a:xfrm>
          <a:prstGeom prst="line">
            <a:avLst/>
          </a:prstGeom>
          <a:noFill/>
          <a:ln w="9525">
            <a:solidFill>
              <a:srgbClr val="1C26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3331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E7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664208"/>
            <a:ext cx="3331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7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40080" y="2267712"/>
            <a:ext cx="3331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E7A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treasury. Set spend, rate, approval rules.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154680"/>
            <a:ext cx="3331464" cy="0"/>
          </a:xfrm>
          <a:prstGeom prst="line">
            <a:avLst/>
          </a:prstGeom>
          <a:noFill/>
          <a:ln w="9525">
            <a:solidFill>
              <a:srgbClr val="1C26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8744" y="1371600"/>
            <a:ext cx="3331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E7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28744" y="1664208"/>
            <a:ext cx="3331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7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4428744" y="2267712"/>
            <a:ext cx="3331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E7A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 GateX in Cursor or any skill-aware agent.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428744" y="3154680"/>
            <a:ext cx="3331464" cy="0"/>
          </a:xfrm>
          <a:prstGeom prst="line">
            <a:avLst/>
          </a:prstGeom>
          <a:noFill/>
          <a:ln w="9525">
            <a:solidFill>
              <a:srgbClr val="1C26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17408" y="1371600"/>
            <a:ext cx="3331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E7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17408" y="1664208"/>
            <a:ext cx="3331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7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8217408" y="2267712"/>
            <a:ext cx="3331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E7A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key gets blocked. Mandate stays untouched.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17408" y="3154680"/>
            <a:ext cx="3331464" cy="0"/>
          </a:xfrm>
          <a:prstGeom prst="line">
            <a:avLst/>
          </a:prstGeom>
          <a:noFill/>
          <a:ln w="9525">
            <a:solidFill>
              <a:srgbClr val="1C26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794760"/>
            <a:ext cx="3331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E7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087368"/>
            <a:ext cx="3331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7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640080" y="4690872"/>
            <a:ext cx="3331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E7A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CaMeL keeps supplier HTML out of the privileged path.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5577840"/>
            <a:ext cx="3331464" cy="0"/>
          </a:xfrm>
          <a:prstGeom prst="line">
            <a:avLst/>
          </a:prstGeom>
          <a:noFill/>
          <a:ln w="9525">
            <a:solidFill>
              <a:srgbClr val="1C26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28744" y="3794760"/>
            <a:ext cx="3331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E7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28744" y="4087368"/>
            <a:ext cx="3331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7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4428744" y="4690872"/>
            <a:ext cx="3331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E7A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 card, RHA, settle via x402 on Avalanche.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428744" y="5577840"/>
            <a:ext cx="3331464" cy="0"/>
          </a:xfrm>
          <a:prstGeom prst="line">
            <a:avLst/>
          </a:prstGeom>
          <a:noFill/>
          <a:ln w="9525">
            <a:solidFill>
              <a:srgbClr val="1C26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17408" y="3794760"/>
            <a:ext cx="3331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E7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17408" y="4087368"/>
            <a:ext cx="3331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7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8217408" y="4690872"/>
            <a:ext cx="3331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E7A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receipt. The card is already revoked.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8217408" y="5577840"/>
            <a:ext cx="3331464" cy="0"/>
          </a:xfrm>
          <a:prstGeom prst="line">
            <a:avLst/>
          </a:prstGeom>
          <a:noFill/>
          <a:ln w="9525">
            <a:solidFill>
              <a:srgbClr val="1C262C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51276" y="-1828800"/>
            <a:ext cx="5486400" cy="6400800"/>
          </a:xfrm>
          <a:prstGeom prst="ellipse">
            <a:avLst/>
          </a:prstGeom>
          <a:solidFill>
            <a:srgbClr val="6B4A2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119372" y="-1828800"/>
            <a:ext cx="3950208" cy="4754880"/>
          </a:xfrm>
          <a:prstGeom prst="ellipse">
            <a:avLst/>
          </a:prstGeom>
          <a:solidFill>
            <a:srgbClr val="C97A33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832604" y="-1828800"/>
            <a:ext cx="2523744" cy="3108960"/>
          </a:xfrm>
          <a:prstGeom prst="ellipse">
            <a:avLst/>
          </a:prstGeom>
          <a:solidFill>
            <a:srgbClr val="E8A057">
              <a:alpha val="2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651760"/>
            <a:ext cx="111831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E7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it live.</a:t>
            </a:r>
            <a:endParaRPr lang="en-US" sz="9200" dirty="0"/>
          </a:p>
        </p:txBody>
      </p:sp>
      <p:sp>
        <p:nvSpPr>
          <p:cNvPr id="6" name="Text 4"/>
          <p:cNvSpPr/>
          <p:nvPr/>
        </p:nvSpPr>
        <p:spPr>
          <a:xfrm>
            <a:off x="2638044" y="443484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D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9372" y="44348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7A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622292" y="4434840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D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Isolation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277356" y="44348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7A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780276" y="4434840"/>
            <a:ext cx="1307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D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87868" y="44348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E7A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590788" y="443484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D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7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891272" y="384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50" kern="0" dirty="0">
                <a:solidFill>
                  <a:srgbClr val="6E7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804672"/>
            <a:ext cx="10908792" cy="0"/>
          </a:xfrm>
          <a:prstGeom prst="line">
            <a:avLst/>
          </a:prstGeom>
          <a:noFill/>
          <a:ln w="9525">
            <a:solidFill>
              <a:srgbClr val="1C26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7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rails that already hold.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D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" y="2651760"/>
            <a:ext cx="5102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E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Gateway + skill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309360" y="265176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D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01968" y="2651760"/>
            <a:ext cx="5102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E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StraitsX Card MCP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3218688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D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3218688"/>
            <a:ext cx="5102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E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Avalanche / x402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09360" y="3218688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D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01968" y="3218688"/>
            <a:ext cx="5102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E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Ed25519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3785616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D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1248" y="3785616"/>
            <a:ext cx="5102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E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CaMeL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09360" y="3785616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D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01968" y="3785616"/>
            <a:ext cx="5102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E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hash-chained audit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0080" y="6355080"/>
            <a:ext cx="10908792" cy="0"/>
          </a:xfrm>
          <a:prstGeom prst="line">
            <a:avLst/>
          </a:prstGeom>
          <a:noFill/>
          <a:ln w="9525">
            <a:solidFill>
              <a:srgbClr val="1C26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641908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AgentDojo:  </a:t>
            </a:r>
            <a:pPr indent="0" marL="0">
              <a:buNone/>
            </a:pPr>
            <a:r>
              <a:rPr lang="en-US" sz="1250" b="1" dirty="0">
                <a:solidFill>
                  <a:srgbClr val="14D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 → 0</a:t>
            </a:r>
            <a:pPr indent="0" marL="0">
              <a:buNone/>
            </a:pPr>
            <a:r>
              <a:rPr lang="en-US" sz="1250" dirty="0">
                <a:solidFill>
                  <a:srgbClr val="6E7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with CaMeL  (DeepMind)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45436" y="-2651760"/>
            <a:ext cx="7498080" cy="6400800"/>
          </a:xfrm>
          <a:prstGeom prst="ellipse">
            <a:avLst/>
          </a:prstGeom>
          <a:solidFill>
            <a:srgbClr val="6B4A2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395167" y="-2651760"/>
            <a:ext cx="5398618" cy="4754880"/>
          </a:xfrm>
          <a:prstGeom prst="ellipse">
            <a:avLst/>
          </a:prstGeom>
          <a:solidFill>
            <a:srgbClr val="C97A33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369918" y="-2651760"/>
            <a:ext cx="3449117" cy="3108960"/>
          </a:xfrm>
          <a:prstGeom prst="ellipse">
            <a:avLst/>
          </a:prstGeom>
          <a:solidFill>
            <a:srgbClr val="E8A057">
              <a:alpha val="2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514600"/>
            <a:ext cx="10908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6E7A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leaves the gaps open. </a:t>
            </a:r>
            <a:pPr indent="0" marL="0">
              <a:buNone/>
            </a:pPr>
            <a:r>
              <a:rPr lang="en-US" sz="3400" b="1" dirty="0">
                <a:solidFill>
                  <a:srgbClr val="E7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GateX closes the spend path.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3977640"/>
            <a:ext cx="10908792" cy="0"/>
          </a:xfrm>
          <a:prstGeom prst="line">
            <a:avLst/>
          </a:prstGeom>
          <a:noFill/>
          <a:ln w="9525">
            <a:solidFill>
              <a:srgbClr val="1C26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343400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7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GateX — </a:t>
            </a:r>
            <a:pPr indent="0" marL="0">
              <a:buNone/>
            </a:pPr>
            <a:r>
              <a:rPr lang="en-US" sz="4000" b="1" dirty="0">
                <a:solidFill>
                  <a:srgbClr val="14D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that buy, without being hijacked.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45436" y="-2651760"/>
            <a:ext cx="7498080" cy="6400800"/>
          </a:xfrm>
          <a:prstGeom prst="ellipse">
            <a:avLst/>
          </a:prstGeom>
          <a:solidFill>
            <a:srgbClr val="6B4A2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395167" y="-2651760"/>
            <a:ext cx="5398618" cy="4754880"/>
          </a:xfrm>
          <a:prstGeom prst="ellipse">
            <a:avLst/>
          </a:prstGeom>
          <a:solidFill>
            <a:srgbClr val="C97A33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369918" y="-2651760"/>
            <a:ext cx="3449117" cy="3108960"/>
          </a:xfrm>
          <a:prstGeom prst="ellipse">
            <a:avLst/>
          </a:prstGeom>
          <a:solidFill>
            <a:srgbClr val="E8A057">
              <a:alpha val="2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E7E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658368" y="251460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6E7A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that buy, without being hijacked.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3246120"/>
            <a:ext cx="6492240" cy="0"/>
          </a:xfrm>
          <a:prstGeom prst="line">
            <a:avLst/>
          </a:prstGeom>
          <a:noFill/>
          <a:ln w="9525">
            <a:solidFill>
              <a:srgbClr val="1C26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520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4D4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THE LIVE DEMO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8587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EB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main.db3ju8bxs5af1.amplifyapp.com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4617720"/>
            <a:ext cx="3108960" cy="566928"/>
          </a:xfrm>
          <a:prstGeom prst="rect">
            <a:avLst/>
          </a:prstGeom>
          <a:solidFill>
            <a:srgbClr val="E7EBE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6177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50" kern="0" dirty="0">
                <a:solidFill>
                  <a:srgbClr val="0C12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LIVE DEMO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750808" y="1892808"/>
            <a:ext cx="2843784" cy="2843784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3" name="Image 0" descr="/mnt/user-data/uploads/1786810834762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0" y="2148840"/>
            <a:ext cx="2331720" cy="23317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750808" y="4864608"/>
            <a:ext cx="2843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50" kern="0" dirty="0">
                <a:solidFill>
                  <a:srgbClr val="6E7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 TO OPEN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2026-08-15T16:22:06Z</dcterms:created>
  <dcterms:modified xsi:type="dcterms:W3CDTF">2026-08-15T16:22:06Z</dcterms:modified>
</cp:coreProperties>
</file>